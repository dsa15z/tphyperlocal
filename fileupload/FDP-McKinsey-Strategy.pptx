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04672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FDP Enables Media Companies to Turn Audience Data Into Predictive Intelligence and Revenue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097280" cy="25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1" i="0">
                <a:solidFill>
                  <a:srgbClr val="D4A853"/>
                </a:solidFill>
                <a:latin typeface="Arial"/>
              </a:defRPr>
            </a:pPr>
            <a:r>
              <a:rPr a:spc="300"/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8046720" cy="347472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1100" b="0" i="0">
                <a:solidFill>
                  <a:srgbClr val="B0BEC5"/>
                </a:solidFill>
                <a:latin typeface="Arial"/>
              </a:defRPr>
            </a:pPr>
            <a:r>
              <a:t>Media organizations struggle to translate fragmented audience data into actionable decisions fast enough to capture audience attention and revenue opportunities.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8046720" cy="22860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900" b="1" i="0">
                <a:solidFill>
                  <a:srgbClr val="D4A853"/>
                </a:solidFill>
                <a:latin typeface="Arial"/>
              </a:defRPr>
            </a:pPr>
            <a:r>
              <a:rPr a:spc="300"/>
              <a:t>HOW FDP SOLVES THIS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48840"/>
          <a:ext cx="8046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  <a:gridCol w="2560320"/>
              </a:tblGrid>
              <a:tr h="438912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D4A853"/>
                          </a:solidFill>
                          <a:latin typeface="Arial"/>
                        </a:defRPr>
                      </a:pPr>
                      <a:r>
                        <a:rPr a:spc="150"/>
                        <a:t>CAPABILITY</a:t>
                      </a:r>
                    </a:p>
                  </a:txBody>
                  <a:tcPr marT="63500" marB="63500" marL="101600" marR="101600">
                    <a:solidFill>
                      <a:srgbClr val="1A2F4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D4A853"/>
                          </a:solidFill>
                          <a:latin typeface="Arial"/>
                        </a:defRPr>
                      </a:pPr>
                      <a:r>
                        <a:rPr a:spc="150"/>
                        <a:t>WHAT FDP DOES</a:t>
                      </a:r>
                    </a:p>
                  </a:txBody>
                  <a:tcPr marT="63500" marB="63500" marL="101600" marR="101600">
                    <a:solidFill>
                      <a:srgbClr val="1A2F40"/>
                    </a:solidFill>
                    <a:lnL w="3810">
                      <a:solidFill>
                        <a:srgbClr val="2A3A4A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D4A853"/>
                          </a:solidFill>
                          <a:latin typeface="Arial"/>
                        </a:defRPr>
                      </a:pPr>
                      <a:r>
                        <a:rPr a:spc="150"/>
                        <a:t>BUSINESS IMPACT</a:t>
                      </a:r>
                    </a:p>
                  </a:txBody>
                  <a:tcPr marT="63500" marB="63500" marL="101600" marR="101600">
                    <a:solidFill>
                      <a:srgbClr val="1A2F40"/>
                    </a:solidFill>
                    <a:lnL w="3810">
                      <a:solidFill>
                        <a:srgbClr val="2A3A4A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Real-Time Audience</a:t>
                      </a:r>
                      <a:br/>
                      <a:r>
                        <a:t>Intelligence</a:t>
                      </a:r>
                    </a:p>
                  </a:txBody>
                  <a:tcPr marT="63500" marB="63500" marL="101600" marR="101600">
                    <a:solidFill>
                      <a:srgbClr val="18263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B0BEC5"/>
                          </a:solidFill>
                          <a:latin typeface="Arial"/>
                        </a:defRPr>
                      </a:pPr>
                      <a:r>
                        <a:t>Aggregates and analyzes live listener, viewer, and digital engagement signals</a:t>
                      </a:r>
                    </a:p>
                  </a:txBody>
                  <a:tcPr marT="63500" marB="63500" marL="101600" marR="101600">
                    <a:solidFill>
                      <a:srgbClr val="182633"/>
                    </a:solidFill>
                    <a:lnL w="3810">
                      <a:solidFill>
                        <a:srgbClr val="2A3A4A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i="1">
                          <a:solidFill>
                            <a:srgbClr val="D4A853"/>
                          </a:solidFill>
                          <a:latin typeface="Arial"/>
                        </a:defRPr>
                      </a:pPr>
                      <a:r>
                        <a:t>Faster, data-driven programming and content decisions</a:t>
                      </a:r>
                    </a:p>
                  </a:txBody>
                  <a:tcPr marT="63500" marB="63500" marL="101600" marR="101600">
                    <a:solidFill>
                      <a:srgbClr val="182633"/>
                    </a:solidFill>
                    <a:lnL w="3810">
                      <a:solidFill>
                        <a:srgbClr val="2A3A4A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Predictive Trend</a:t>
                      </a:r>
                      <a:br/>
                      <a:r>
                        <a:t>Detection</a:t>
                      </a:r>
                    </a:p>
                  </a:txBody>
                  <a:tcPr marT="63500" marB="63500" marL="101600" marR="101600">
                    <a:solidFill>
                      <a:srgbClr val="15223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B0BEC5"/>
                          </a:solidFill>
                          <a:latin typeface="Arial"/>
                        </a:defRPr>
                      </a:pPr>
                      <a:r>
                        <a:t>AI identifies emerging topics and audience interests before they peak</a:t>
                      </a:r>
                    </a:p>
                  </a:txBody>
                  <a:tcPr marT="63500" marB="63500" marL="101600" marR="101600">
                    <a:solidFill>
                      <a:srgbClr val="152230"/>
                    </a:solidFill>
                    <a:lnL w="3810">
                      <a:solidFill>
                        <a:srgbClr val="2A3A4A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i="1">
                          <a:solidFill>
                            <a:srgbClr val="D4A853"/>
                          </a:solidFill>
                          <a:latin typeface="Arial"/>
                        </a:defRPr>
                      </a:pPr>
                      <a:r>
                        <a:t>Capture audience demand before competitors</a:t>
                      </a:r>
                    </a:p>
                  </a:txBody>
                  <a:tcPr marT="63500" marB="63500" marL="101600" marR="101600">
                    <a:solidFill>
                      <a:srgbClr val="152230"/>
                    </a:solidFill>
                    <a:lnL w="3810">
                      <a:solidFill>
                        <a:srgbClr val="2A3A4A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Workflow</a:t>
                      </a:r>
                      <a:br/>
                      <a:r>
                        <a:t>Integration</a:t>
                      </a:r>
                    </a:p>
                  </a:txBody>
                  <a:tcPr marT="63500" marB="63500" marL="101600" marR="101600">
                    <a:solidFill>
                      <a:srgbClr val="182633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B0BEC5"/>
                          </a:solidFill>
                          <a:latin typeface="Arial"/>
                        </a:defRPr>
                      </a:pPr>
                      <a:r>
                        <a:t>Integrates insights directly into newsroom, programming, and digital publishing workflows</a:t>
                      </a:r>
                    </a:p>
                  </a:txBody>
                  <a:tcPr marT="63500" marB="63500" marL="101600" marR="101600">
                    <a:solidFill>
                      <a:srgbClr val="182633"/>
                    </a:solidFill>
                    <a:lnL w="3810">
                      <a:solidFill>
                        <a:srgbClr val="2A3A4A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i="1">
                          <a:solidFill>
                            <a:srgbClr val="D4A853"/>
                          </a:solidFill>
                          <a:latin typeface="Arial"/>
                        </a:defRPr>
                      </a:pPr>
                      <a:r>
                        <a:t>Reduces time from insight to content creation</a:t>
                      </a:r>
                    </a:p>
                  </a:txBody>
                  <a:tcPr marT="63500" marB="63500" marL="101600" marR="101600">
                    <a:solidFill>
                      <a:srgbClr val="182633"/>
                    </a:solidFill>
                    <a:lnL w="3810">
                      <a:solidFill>
                        <a:srgbClr val="2A3A4A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AI-Driven</a:t>
                      </a:r>
                      <a:br/>
                      <a:r>
                        <a:t>Automation</a:t>
                      </a:r>
                    </a:p>
                  </a:txBody>
                  <a:tcPr marT="63500" marB="63500" marL="101600" marR="101600">
                    <a:solidFill>
                      <a:srgbClr val="15223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B0BEC5"/>
                          </a:solidFill>
                          <a:latin typeface="Arial"/>
                        </a:defRPr>
                      </a:pPr>
                      <a:r>
                        <a:t>Automates content recommendations, story discovery, and engagement optimization</a:t>
                      </a:r>
                    </a:p>
                  </a:txBody>
                  <a:tcPr marT="63500" marB="63500" marL="101600" marR="101600">
                    <a:solidFill>
                      <a:srgbClr val="152230"/>
                    </a:solidFill>
                    <a:lnL w="3810">
                      <a:solidFill>
                        <a:srgbClr val="2A3A4A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i="1">
                          <a:solidFill>
                            <a:srgbClr val="D4A853"/>
                          </a:solidFill>
                          <a:latin typeface="Arial"/>
                        </a:defRPr>
                      </a:pPr>
                      <a:r>
                        <a:t>Increases efficiency and audience engagement</a:t>
                      </a:r>
                    </a:p>
                  </a:txBody>
                  <a:tcPr marT="63500" marB="63500" marL="101600" marR="101600">
                    <a:solidFill>
                      <a:srgbClr val="152230"/>
                    </a:solidFill>
                    <a:lnL w="3810">
                      <a:solidFill>
                        <a:srgbClr val="2A3A4A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2A3A4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1A2F40"/>
          </a:solidFill>
          <a:ln w="6350">
            <a:solidFill>
              <a:srgbClr val="D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</p:spPr>
        <p:txBody>
          <a:bodyPr wrap="square" tIns="0" bIns="0" lIns="152400" rIns="152400" anchor="ctr">
            <a:spAutoFit/>
          </a:bodyPr>
          <a:lstStyle/>
          <a:p>
            <a:pPr algn="l"/>
            <a:r>
              <a:rPr b="1" sz="1000">
                <a:solidFill>
                  <a:srgbClr val="D4A853"/>
                </a:solidFill>
                <a:latin typeface="Arial"/>
              </a:rPr>
              <a:t>RESULT:  </a:t>
            </a:r>
            <a:r>
              <a:rPr sz="1000">
                <a:solidFill>
                  <a:srgbClr val="FFFFFF"/>
                </a:solidFill>
                <a:latin typeface="Arial"/>
              </a:rPr>
              <a:t>FDP transforms raw audience data into predictive intelligence that drives audience growth, engagement, and monetization.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1828800" cy="1828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l">
              <a:defRPr sz="700" b="0" i="0">
                <a:solidFill>
                  <a:srgbClr val="78909C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892040"/>
            <a:ext cx="2743200" cy="182880"/>
          </a:xfrm>
          <a:prstGeom prst="rect">
            <a:avLst/>
          </a:prstGeom>
          <a:noFill/>
        </p:spPr>
        <p:txBody>
          <a:bodyPr wrap="square" tIns="0" bIns="0" lIns="0" rIns="0"/>
          <a:lstStyle/>
          <a:p>
            <a:pPr algn="r">
              <a:defRPr sz="700" b="0" i="0">
                <a:solidFill>
                  <a:srgbClr val="78909C"/>
                </a:solidFill>
                <a:latin typeface="Arial"/>
              </a:defRPr>
            </a:pPr>
            <a:r>
              <a:t>FDP  |  Data Lakehouse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