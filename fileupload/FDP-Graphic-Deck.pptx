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371600" cy="36576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400" b="1" i="0">
                <a:solidFill>
                  <a:srgbClr val="6B7280"/>
                </a:solidFill>
                <a:latin typeface="Inter"/>
              </a:defRPr>
            </a:pPr>
            <a:r>
              <a:rPr a:spc="200"/>
              <a:t>FDP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4572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/>
            <a:r>
              <a:rPr sz="2600" b="1">
                <a:solidFill>
                  <a:srgbClr val="1A1A2E"/>
                </a:solidFill>
                <a:latin typeface="Arial"/>
              </a:rPr>
              <a:t>THE COMPLETE </a:t>
            </a:r>
            <a:r>
              <a:rPr sz="2600" b="1">
                <a:solidFill>
                  <a:srgbClr val="2ECC71"/>
                </a:solidFill>
                <a:latin typeface="Arial"/>
              </a:rPr>
              <a:t>DATA INTELLIGENCE </a:t>
            </a:r>
            <a:r>
              <a:rPr sz="2600" b="1">
                <a:solidFill>
                  <a:srgbClr val="1A1A2E"/>
                </a:solidFill>
                <a:latin typeface="Arial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400" b="0" i="1">
                <a:solidFill>
                  <a:srgbClr val="6B7280"/>
                </a:solidFill>
                <a:latin typeface="Inter"/>
              </a:defRPr>
            </a:pPr>
            <a:r>
              <a:t>Everything Databricks makes you build, FDP ships out of the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68580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7" name="TextBox 6"/>
          <p:cNvSpPr txBox="1"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2ECC71"/>
                </a:solidFill>
                <a:latin typeface="Inter"/>
              </a:defRPr>
            </a:pPr>
            <a:r>
              <a:rPr a:spc="250"/>
              <a:t>THE DATA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5720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0" i="0">
                <a:solidFill>
                  <a:srgbClr val="6B7280"/>
                </a:solidFill>
                <a:latin typeface="Inter"/>
              </a:defRPr>
            </a:pPr>
            <a:r>
              <a:t>From 5 raw sources to enterprise-grade gold tables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2830068"/>
            <a:ext cx="484632" cy="27432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65176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475488" cy="292607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2.9M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5 data feeds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7128" y="2830068"/>
            <a:ext cx="484631" cy="27432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83080" y="265176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Normalize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35808" y="2830068"/>
            <a:ext cx="484631" cy="27432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51760" y="26517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724912"/>
            <a:ext cx="475488" cy="292607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Validate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4487" y="2830068"/>
            <a:ext cx="484632" cy="27432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20439" y="265176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724912"/>
            <a:ext cx="475488" cy="292607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2.5M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7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CDM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7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Unify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2830068"/>
            <a:ext cx="484632" cy="27432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9120" y="2651760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8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ENRICH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Augment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41848" y="2830068"/>
            <a:ext cx="484631" cy="27432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57800" y="265176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2724912"/>
            <a:ext cx="475488" cy="292607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1.4M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RESOLVE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Deduplicate</a:t>
            </a:r>
          </a:p>
        </p:txBody>
      </p:sp>
      <p:sp>
        <p:nvSpPr>
          <p:cNvPr id="37" name="Oval 36"/>
          <p:cNvSpPr/>
          <p:nvPr/>
        </p:nvSpPr>
        <p:spPr>
          <a:xfrm>
            <a:off x="6126479" y="265176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59" y="2724912"/>
            <a:ext cx="475488" cy="292607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3108960"/>
            <a:ext cx="713232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50" b="1" i="0">
                <a:solidFill>
                  <a:srgbClr val="2D3A4A"/>
                </a:solidFill>
                <a:latin typeface="Inter"/>
              </a:defRPr>
            </a:pPr>
            <a:r>
              <a:rPr a:spc="80"/>
              <a:t>GOLD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282696"/>
            <a:ext cx="713232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700" b="0" i="0">
                <a:solidFill>
                  <a:srgbClr val="6B7280"/>
                </a:solidFill>
                <a:latin typeface="Inter"/>
              </a:defRPr>
            </a:pPr>
            <a:r>
              <a:t>Enterprise</a:t>
            </a:r>
          </a:p>
        </p:txBody>
      </p:sp>
      <p:sp>
        <p:nvSpPr>
          <p:cNvPr id="41" name="Oval 40"/>
          <p:cNvSpPr/>
          <p:nvPr/>
        </p:nvSpPr>
        <p:spPr>
          <a:xfrm>
            <a:off x="914400" y="37307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370332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Salesforce CRM</a:t>
            </a:r>
          </a:p>
        </p:txBody>
      </p:sp>
      <p:sp>
        <p:nvSpPr>
          <p:cNvPr id="43" name="Oval 42"/>
          <p:cNvSpPr/>
          <p:nvPr/>
        </p:nvSpPr>
        <p:spPr>
          <a:xfrm>
            <a:off x="914400" y="391363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388620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Dun &amp; Bradstreet</a:t>
            </a:r>
          </a:p>
        </p:txBody>
      </p:sp>
      <p:sp>
        <p:nvSpPr>
          <p:cNvPr id="45" name="Oval 44"/>
          <p:cNvSpPr/>
          <p:nvPr/>
        </p:nvSpPr>
        <p:spPr>
          <a:xfrm>
            <a:off x="914400" y="409651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406908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LinkedIn</a:t>
            </a:r>
          </a:p>
        </p:txBody>
      </p:sp>
      <p:sp>
        <p:nvSpPr>
          <p:cNvPr id="47" name="Oval 46"/>
          <p:cNvSpPr/>
          <p:nvPr/>
        </p:nvSpPr>
        <p:spPr>
          <a:xfrm>
            <a:off x="914400" y="427939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25196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Web Crawlers</a:t>
            </a:r>
          </a:p>
        </p:txBody>
      </p:sp>
      <p:sp>
        <p:nvSpPr>
          <p:cNvPr id="49" name="Oval 48"/>
          <p:cNvSpPr/>
          <p:nvPr/>
        </p:nvSpPr>
        <p:spPr>
          <a:xfrm>
            <a:off x="914400" y="446227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443484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SEC Filings</a:t>
            </a:r>
          </a:p>
        </p:txBody>
      </p:sp>
      <p:sp>
        <p:nvSpPr>
          <p:cNvPr id="51" name="Oval 50"/>
          <p:cNvSpPr/>
          <p:nvPr/>
        </p:nvSpPr>
        <p:spPr>
          <a:xfrm>
            <a:off x="2926080" y="373075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63240" y="370332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Industry Classification</a:t>
            </a:r>
          </a:p>
        </p:txBody>
      </p:sp>
      <p:sp>
        <p:nvSpPr>
          <p:cNvPr id="53" name="Oval 52"/>
          <p:cNvSpPr/>
          <p:nvPr/>
        </p:nvSpPr>
        <p:spPr>
          <a:xfrm>
            <a:off x="2926080" y="391363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63240" y="388620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Geocoding &amp; Geo</a:t>
            </a:r>
          </a:p>
        </p:txBody>
      </p:sp>
      <p:sp>
        <p:nvSpPr>
          <p:cNvPr id="55" name="Oval 54"/>
          <p:cNvSpPr/>
          <p:nvPr/>
        </p:nvSpPr>
        <p:spPr>
          <a:xfrm>
            <a:off x="2926080" y="409651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63240" y="4069080"/>
            <a:ext cx="13716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2D3A4A"/>
                </a:solidFill>
                <a:latin typeface="Inter"/>
              </a:defRPr>
            </a:pPr>
            <a:r>
              <a:t>Revenue Estimation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3703320"/>
            <a:ext cx="2103120" cy="868680"/>
          </a:xfrm>
          <a:prstGeom prst="roundRect">
            <a:avLst/>
          </a:prstGeom>
          <a:solidFill>
            <a:srgbClr val="EE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767328"/>
            <a:ext cx="192024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1" i="0">
                <a:solidFill>
                  <a:srgbClr val="1B8A4A"/>
                </a:solidFill>
                <a:latin typeface="Inter"/>
              </a:defRPr>
            </a:pPr>
            <a:r>
              <a:rPr a:spc="100"/>
              <a:t>ENTERPRISE GOLD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3977639"/>
            <a:ext cx="1920240" cy="5486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2D3A4A"/>
                </a:solidFill>
                <a:latin typeface="Inter"/>
              </a:defRPr>
            </a:pPr>
            <a:r>
              <a:t>1.4M unified records</a:t>
            </a:r>
            <a:br/>
            <a:r>
              <a:t>96% avg quality</a:t>
            </a:r>
            <a:br/>
            <a:r>
              <a:t>51% compression</a:t>
            </a:r>
            <a:br/>
            <a:r>
              <a:t>99% output accuracy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91640"/>
            <a:ext cx="4114800" cy="36576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/>
            <a:r>
              <a:rPr sz="1800" b="1">
                <a:solidFill>
                  <a:srgbClr val="2ECC71"/>
                </a:solidFill>
                <a:latin typeface="Arial"/>
              </a:rPr>
              <a:t>FDP </a:t>
            </a:r>
            <a:r>
              <a:rPr sz="1800" b="0">
                <a:solidFill>
                  <a:srgbClr val="6B7280"/>
                </a:solidFill>
                <a:latin typeface="Arial"/>
              </a:rPr>
              <a:t>vs </a:t>
            </a:r>
            <a:r>
              <a:rPr sz="1800" b="1">
                <a:solidFill>
                  <a:srgbClr val="FF3E1D"/>
                </a:solidFill>
                <a:latin typeface="Arial"/>
              </a:rPr>
              <a:t>DATABRICKS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2148840"/>
            <a:ext cx="1874519" cy="74980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62" name="TextBox 61"/>
          <p:cNvSpPr txBox="1"/>
          <p:nvPr/>
        </p:nvSpPr>
        <p:spPr>
          <a:xfrm>
            <a:off x="7882127" y="2221992"/>
            <a:ext cx="1655063" cy="21945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Visual Data Journey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2127" y="2459736"/>
            <a:ext cx="1655063" cy="40233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See your entire pipeline</a:t>
            </a:r>
            <a:br/>
            <a:r>
              <a:t>end-to-end, not just code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38360" y="2148840"/>
            <a:ext cx="1874519" cy="74980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65" name="TextBox 64"/>
          <p:cNvSpPr txBox="1"/>
          <p:nvPr/>
        </p:nvSpPr>
        <p:spPr>
          <a:xfrm>
            <a:off x="9848088" y="2221992"/>
            <a:ext cx="1655063" cy="21945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CRM Sync Built 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8088" y="2459736"/>
            <a:ext cx="1655063" cy="40233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Bidirectional Salesforce +</a:t>
            </a:r>
            <a:br/>
            <a:r>
              <a:t>HubSpot, no Fivetran needed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72400" y="2990088"/>
            <a:ext cx="1874519" cy="74980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68" name="TextBox 67"/>
          <p:cNvSpPr txBox="1"/>
          <p:nvPr/>
        </p:nvSpPr>
        <p:spPr>
          <a:xfrm>
            <a:off x="7882127" y="3063240"/>
            <a:ext cx="1655063" cy="21945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Entity Resolution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7" y="3300984"/>
            <a:ext cx="1655063" cy="40233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Match &amp; merge across sources,</a:t>
            </a:r>
            <a:br/>
            <a:r>
              <a:t>2.5M down to 1.4M records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38360" y="2990088"/>
            <a:ext cx="1874519" cy="74980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71" name="TextBox 70"/>
          <p:cNvSpPr txBox="1"/>
          <p:nvPr/>
        </p:nvSpPr>
        <p:spPr>
          <a:xfrm>
            <a:off x="9848088" y="3063240"/>
            <a:ext cx="1655063" cy="21945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AI Agent Tools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48088" y="3300984"/>
            <a:ext cx="1655063" cy="40233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MCP Registry with 27.6K</a:t>
            </a:r>
            <a:br/>
            <a:r>
              <a:t>invocations — AI-native data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0" y="3831335"/>
            <a:ext cx="1874519" cy="74980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74" name="TextBox 73"/>
          <p:cNvSpPr txBox="1"/>
          <p:nvPr/>
        </p:nvSpPr>
        <p:spPr>
          <a:xfrm>
            <a:off x="7882127" y="3904487"/>
            <a:ext cx="1655063" cy="21945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Data Products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82127" y="4142231"/>
            <a:ext cx="1655063" cy="40233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Self-service marketplace with</a:t>
            </a:r>
            <a:br/>
            <a:r>
              <a:t>medallion tiering &amp; versioning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738360" y="3831335"/>
            <a:ext cx="1874519" cy="74980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a:spPr>
          <a:effectLst>
            <a:outerShdw blurRad="127000" dist="38100" dir="8100000" algn="tl">
              <a:srgbClr val="000000">
                <a:alpha val="12000"/>
              </a:srgbClr>
            </a:outerShdw>
          </a:effectLst>
        </a:spPr>
      </p:sp>
      <p:sp>
        <p:nvSpPr>
          <p:cNvPr id="77" name="TextBox 76"/>
          <p:cNvSpPr txBox="1"/>
          <p:nvPr/>
        </p:nvSpPr>
        <p:spPr>
          <a:xfrm>
            <a:off x="9848088" y="3904487"/>
            <a:ext cx="1655063" cy="21945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Data Quality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48088" y="4142231"/>
            <a:ext cx="1655063" cy="402336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Great Expectations baked in,</a:t>
            </a:r>
            <a:br/>
            <a:r>
              <a:t>not bolted 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72400" y="4782312"/>
            <a:ext cx="3840480" cy="685800"/>
          </a:xfrm>
          <a:prstGeom prst="roundRect">
            <a:avLst/>
          </a:prstGeom>
          <a:solidFill>
            <a:srgbClr val="FF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09560" y="4873751"/>
            <a:ext cx="3566160" cy="5486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/>
            <a:r>
              <a:rPr sz="1000" b="0">
                <a:solidFill>
                  <a:srgbClr val="2D3A4A"/>
                </a:solidFill>
                <a:latin typeface="Arial"/>
              </a:rPr>
              <a:t>With Databricks </a:t>
            </a:r>
            <a:r>
              <a:rPr sz="1000" b="1">
                <a:solidFill>
                  <a:srgbClr val="2D3A4A"/>
                </a:solidFill>
                <a:latin typeface="Arial"/>
              </a:rPr>
              <a:t>you'd need: </a:t>
            </a:r>
            <a:r>
              <a:rPr sz="1000" b="0">
                <a:solidFill>
                  <a:srgbClr val="EF4444"/>
                </a:solidFill>
                <a:latin typeface="Arial"/>
              </a:rPr>
              <a:t>Fivetran + dbt + Monte Carlo + Atlan + custom entity resolution + a data engineering team.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349240"/>
            <a:ext cx="2011680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800" b="1" i="0">
                <a:solidFill>
                  <a:srgbClr val="2ECC71"/>
                </a:solidFill>
                <a:latin typeface="Inter"/>
              </a:defRPr>
            </a:pPr>
            <a:r>
              <a:t>2.9M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760720"/>
            <a:ext cx="201168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0" i="0">
                <a:solidFill>
                  <a:srgbClr val="6B7280"/>
                </a:solidFill>
                <a:latin typeface="Inter"/>
              </a:defRPr>
            </a:pPr>
            <a:r>
              <a:t>records 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51760" y="5349240"/>
            <a:ext cx="2011680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800" b="1" i="0">
                <a:solidFill>
                  <a:srgbClr val="2ECC71"/>
                </a:solidFill>
                <a:latin typeface="Inter"/>
              </a:defRPr>
            </a:pPr>
            <a:r>
              <a:t>1.4M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51760" y="5760720"/>
            <a:ext cx="201168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0" i="0">
                <a:solidFill>
                  <a:srgbClr val="6B7280"/>
                </a:solidFill>
                <a:latin typeface="Inter"/>
              </a:defRPr>
            </a:pPr>
            <a:r>
              <a:t>records out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3440" y="5349240"/>
            <a:ext cx="2011680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800" b="1" i="0">
                <a:solidFill>
                  <a:srgbClr val="2ECC71"/>
                </a:solidFill>
                <a:latin typeface="Inter"/>
              </a:defRPr>
            </a:pPr>
            <a:r>
              <a:t>96%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3440" y="5760720"/>
            <a:ext cx="201168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0" i="0">
                <a:solidFill>
                  <a:srgbClr val="6B7280"/>
                </a:solidFill>
                <a:latin typeface="Inter"/>
              </a:defRPr>
            </a:pPr>
            <a:r>
              <a:t>avg quality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75120" y="5349240"/>
            <a:ext cx="2011680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800" b="1" i="0">
                <a:solidFill>
                  <a:srgbClr val="2ECC71"/>
                </a:solidFill>
                <a:latin typeface="Inter"/>
              </a:defRPr>
            </a:pPr>
            <a:r>
              <a:t>27.6K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0" y="5760720"/>
            <a:ext cx="201168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0" i="0">
                <a:solidFill>
                  <a:srgbClr val="6B7280"/>
                </a:solidFill>
                <a:latin typeface="Inter"/>
              </a:defRPr>
            </a:pPr>
            <a:r>
              <a:t>AI invocations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5349240"/>
            <a:ext cx="2011680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800" b="1" i="0">
                <a:solidFill>
                  <a:srgbClr val="2ECC71"/>
                </a:solidFill>
                <a:latin typeface="Inter"/>
              </a:defRPr>
            </a:pPr>
            <a:r>
              <a:t>94.6%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5760720"/>
            <a:ext cx="201168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0" i="0">
                <a:solidFill>
                  <a:srgbClr val="6B7280"/>
                </a:solidFill>
                <a:latin typeface="Inter"/>
              </a:defRPr>
            </a:pPr>
            <a:r>
              <a:t>pipeline success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/>
            <a:r>
              <a:rPr sz="1000" b="1">
                <a:solidFill>
                  <a:srgbClr val="2ECC71"/>
                </a:solidFill>
                <a:latin typeface="Arial"/>
              </a:rPr>
              <a:t>// </a:t>
            </a:r>
            <a:r>
              <a:rPr sz="1000" b="0">
                <a:solidFill>
                  <a:srgbClr val="6B7280"/>
                </a:solidFill>
                <a:latin typeface="Arial"/>
              </a:rPr>
              <a:t>Databricks gives you a compute engine. </a:t>
            </a:r>
            <a:r>
              <a:rPr sz="1000" b="1">
                <a:solidFill>
                  <a:srgbClr val="1A1A2E"/>
                </a:solidFill>
                <a:latin typeface="Arial"/>
              </a:rPr>
              <a:t>FDP gives you the complete intelligence layer.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0" y="6492240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r">
              <a:defRPr sz="700" b="0" i="0">
                <a:solidFill>
                  <a:srgbClr val="9CA3AF"/>
                </a:solidFill>
                <a:latin typeface="Inter"/>
              </a:defRPr>
            </a:pPr>
            <a:r>
              <a:t>futuridata.com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