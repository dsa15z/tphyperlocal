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8686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FDP Is the Complete Data Intelligence Platform —</a:t>
            </a:r>
            <a:br/>
            <a:r>
              <a:t>Databricks Is Just the Foundation You Build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371600" cy="2286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486400" cy="27432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1000" b="1" i="0">
                <a:solidFill>
                  <a:srgbClr val="D4A853"/>
                </a:solidFill>
                <a:latin typeface="Arial"/>
              </a:defRPr>
            </a:pPr>
            <a:r>
              <a:rPr a:spc="300"/>
              <a:t>THE FDP DATA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669280" cy="27432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1050" b="0" i="0">
                <a:solidFill>
                  <a:srgbClr val="B0BEC5"/>
                </a:solidFill>
                <a:latin typeface="Arial"/>
              </a:defRPr>
            </a:pPr>
            <a:r>
              <a:t>End-to-end pipeline from raw sources to enterprise-grade gold tables — all built 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1234440" cy="777240"/>
          </a:xfrm>
          <a:prstGeom prst="rect">
            <a:avLst/>
          </a:prstGeom>
          <a:solidFill>
            <a:srgbClr val="141F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1" y="2057400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20824"/>
            <a:ext cx="914400" cy="201168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1" y="2313432"/>
            <a:ext cx="1088136" cy="4114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700" b="0" i="0">
                <a:solidFill>
                  <a:srgbClr val="78909C"/>
                </a:solidFill>
                <a:latin typeface="Arial"/>
              </a:defRPr>
            </a:pPr>
            <a:r>
              <a:t>Salesforce, D&amp;B,</a:t>
            </a:r>
            <a:br/>
            <a:r>
              <a:t>LinkedIn, SEC, Web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883663" y="2299715"/>
            <a:ext cx="146304" cy="109728"/>
          </a:xfrm>
          <a:prstGeom prst="rightArrow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21991" y="1965960"/>
            <a:ext cx="1234440" cy="777240"/>
          </a:xfrm>
          <a:prstGeom prst="rect">
            <a:avLst/>
          </a:prstGeom>
          <a:solidFill>
            <a:srgbClr val="141F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95144" y="205740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78024" y="2020824"/>
            <a:ext cx="914400" cy="201168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95144" y="2313432"/>
            <a:ext cx="1088136" cy="4114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700" b="0" i="0">
                <a:solidFill>
                  <a:srgbClr val="78909C"/>
                </a:solidFill>
                <a:latin typeface="Arial"/>
              </a:defRPr>
            </a:pPr>
            <a:r>
              <a:t>Schema Normalize,</a:t>
            </a:r>
            <a:br/>
            <a:r>
              <a:t>Parse &amp; Extract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465575" y="2299715"/>
            <a:ext cx="146304" cy="109728"/>
          </a:xfrm>
          <a:prstGeom prst="rightArrow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03904" y="1965960"/>
            <a:ext cx="1234440" cy="777240"/>
          </a:xfrm>
          <a:prstGeom prst="rect">
            <a:avLst/>
          </a:prstGeom>
          <a:solidFill>
            <a:srgbClr val="141F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77056" y="205740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59936" y="2020824"/>
            <a:ext cx="914400" cy="201168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7056" y="2313432"/>
            <a:ext cx="1088136" cy="4114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700" b="0" i="0">
                <a:solidFill>
                  <a:srgbClr val="78909C"/>
                </a:solidFill>
                <a:latin typeface="Arial"/>
              </a:defRPr>
            </a:pPr>
            <a:r>
              <a:t>Validate &amp; Score</a:t>
            </a:r>
            <a:br/>
            <a:r>
              <a:t>92-98% pass rates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047488" y="2299715"/>
            <a:ext cx="146304" cy="109728"/>
          </a:xfrm>
          <a:prstGeom prst="rightArrow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5816" y="1965960"/>
            <a:ext cx="1234440" cy="777240"/>
          </a:xfrm>
          <a:prstGeom prst="rect">
            <a:avLst/>
          </a:prstGeom>
          <a:solidFill>
            <a:srgbClr val="141F2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58968" y="2057400"/>
            <a:ext cx="137160" cy="1371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41848" y="2020824"/>
            <a:ext cx="914400" cy="201168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Cleanup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58968" y="2313432"/>
            <a:ext cx="1088136" cy="4114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700" b="0" i="0">
                <a:solidFill>
                  <a:srgbClr val="78909C"/>
                </a:solidFill>
                <a:latin typeface="Arial"/>
              </a:defRPr>
            </a:pPr>
            <a:r>
              <a:t>Dedup &amp; Clean</a:t>
            </a:r>
            <a:br/>
            <a:r>
              <a:t>51% compression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063240"/>
            <a:ext cx="1234440" cy="777240"/>
          </a:xfrm>
          <a:prstGeom prst="rect">
            <a:avLst/>
          </a:prstGeom>
          <a:solidFill>
            <a:srgbClr val="141F2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3231" y="315468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3118104"/>
            <a:ext cx="914400" cy="201168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CDM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1" y="3410712"/>
            <a:ext cx="1088136" cy="4114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700" b="0" i="0">
                <a:solidFill>
                  <a:srgbClr val="78909C"/>
                </a:solidFill>
                <a:latin typeface="Arial"/>
              </a:defRPr>
            </a:pPr>
            <a:r>
              <a:t>Common Data Model</a:t>
            </a:r>
            <a:br/>
            <a:r>
              <a:t>2.5M unified records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883663" y="3396996"/>
            <a:ext cx="146304" cy="109728"/>
          </a:xfrm>
          <a:prstGeom prst="rightArrow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21991" y="3063240"/>
            <a:ext cx="1234440" cy="777240"/>
          </a:xfrm>
          <a:prstGeom prst="rect">
            <a:avLst/>
          </a:prstGeom>
          <a:solidFill>
            <a:srgbClr val="141F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295144" y="315468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78024" y="3118104"/>
            <a:ext cx="914400" cy="201168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Enrich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95144" y="3410712"/>
            <a:ext cx="1088136" cy="4114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700" b="0" i="0">
                <a:solidFill>
                  <a:srgbClr val="78909C"/>
                </a:solidFill>
                <a:latin typeface="Arial"/>
              </a:defRPr>
            </a:pPr>
            <a:r>
              <a:t>Industry, Geo,</a:t>
            </a:r>
            <a:br/>
            <a:r>
              <a:t>Revenue Estimation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3465575" y="3396996"/>
            <a:ext cx="146304" cy="109728"/>
          </a:xfrm>
          <a:prstGeom prst="rightArrow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03904" y="3063240"/>
            <a:ext cx="1234440" cy="777240"/>
          </a:xfrm>
          <a:prstGeom prst="rect">
            <a:avLst/>
          </a:prstGeom>
          <a:solidFill>
            <a:srgbClr val="141F2E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877056" y="3154680"/>
            <a:ext cx="137160" cy="1371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59936" y="3118104"/>
            <a:ext cx="914400" cy="201168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Resolve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77056" y="3410712"/>
            <a:ext cx="1088136" cy="4114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700" b="0" i="0">
                <a:solidFill>
                  <a:srgbClr val="78909C"/>
                </a:solidFill>
                <a:latin typeface="Arial"/>
              </a:defRPr>
            </a:pPr>
            <a:r>
              <a:t>Match &amp; Merge</a:t>
            </a:r>
            <a:br/>
            <a:r>
              <a:t>Entity Resolution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5047488" y="3396996"/>
            <a:ext cx="146304" cy="109728"/>
          </a:xfrm>
          <a:prstGeom prst="rightArrow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85816" y="3063240"/>
            <a:ext cx="1234440" cy="777240"/>
          </a:xfrm>
          <a:prstGeom prst="rect">
            <a:avLst/>
          </a:prstGeom>
          <a:solidFill>
            <a:srgbClr val="141F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458968" y="315468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41848" y="3118104"/>
            <a:ext cx="914400" cy="201168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Gold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58968" y="3410712"/>
            <a:ext cx="1088136" cy="4114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700" b="0" i="0">
                <a:solidFill>
                  <a:srgbClr val="78909C"/>
                </a:solidFill>
                <a:latin typeface="Arial"/>
              </a:defRPr>
            </a:pPr>
            <a:r>
              <a:t>Enterprise Tables</a:t>
            </a:r>
            <a:br/>
            <a:r>
              <a:t>96% avg quality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65976" y="2697480"/>
            <a:ext cx="27432" cy="457200"/>
          </a:xfrm>
          <a:prstGeom prst="rect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19" y="3438144"/>
            <a:ext cx="6190488" cy="27432"/>
          </a:xfrm>
          <a:prstGeom prst="rect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ght Arrow 46"/>
          <p:cNvSpPr/>
          <p:nvPr/>
        </p:nvSpPr>
        <p:spPr>
          <a:xfrm>
            <a:off x="411479" y="3396996"/>
            <a:ext cx="182880" cy="109728"/>
          </a:xfrm>
          <a:prstGeom prst="rightArrow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1325880"/>
            <a:ext cx="5029200" cy="27432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1000" b="1" i="0">
                <a:solidFill>
                  <a:srgbClr val="D4A853"/>
                </a:solidFill>
                <a:latin typeface="Arial"/>
              </a:defRPr>
            </a:pPr>
            <a:r>
              <a:rPr a:spc="300"/>
              <a:t>FDP vs DATABRICKS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1600200"/>
            <a:ext cx="5029200" cy="27432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1050" b="0" i="0">
                <a:solidFill>
                  <a:srgbClr val="B0BEC5"/>
                </a:solidFill>
                <a:latin typeface="Arial"/>
              </a:defRPr>
            </a:pPr>
            <a:r>
              <a:t>FDP ships what Databricks makes you build.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1965960"/>
            <a:ext cx="5029200" cy="292608"/>
          </a:xfrm>
          <a:prstGeom prst="rect">
            <a:avLst/>
          </a:prstGeom>
          <a:solidFill>
            <a:srgbClr val="1A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20840" y="1984248"/>
            <a:ext cx="2926080" cy="256032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850" b="1" i="0">
                <a:solidFill>
                  <a:srgbClr val="D4A853"/>
                </a:solidFill>
                <a:latin typeface="Arial"/>
              </a:defRPr>
            </a:pPr>
            <a:r>
              <a:rPr a:spc="150"/>
              <a:t>CAPABILITY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1984248"/>
            <a:ext cx="731520" cy="256032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850" b="1" i="0">
                <a:solidFill>
                  <a:srgbClr val="D4A853"/>
                </a:solidFill>
                <a:latin typeface="Arial"/>
              </a:defRPr>
            </a:pPr>
            <a:r>
              <a:rPr a:spc="150"/>
              <a:t>FDP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1984248"/>
            <a:ext cx="1005840" cy="256032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850" b="1" i="0">
                <a:solidFill>
                  <a:srgbClr val="D4A853"/>
                </a:solidFill>
                <a:latin typeface="Arial"/>
              </a:defRPr>
            </a:pPr>
            <a:r>
              <a:rPr a:spc="100"/>
              <a:t>DATABRICKS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2258568"/>
            <a:ext cx="5029200" cy="310896"/>
          </a:xfrm>
          <a:prstGeom prst="rect">
            <a:avLst/>
          </a:prstGeom>
          <a:solidFill>
            <a:srgbClr val="14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20840" y="2295144"/>
            <a:ext cx="3108960" cy="237744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Visual Data Journey Pipeline</a:t>
            </a:r>
          </a:p>
        </p:txBody>
      </p:sp>
      <p:sp>
        <p:nvSpPr>
          <p:cNvPr id="56" name="Oval 55"/>
          <p:cNvSpPr/>
          <p:nvPr/>
        </p:nvSpPr>
        <p:spPr>
          <a:xfrm>
            <a:off x="10149840" y="2322575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85832" y="2267711"/>
            <a:ext cx="320040" cy="27432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58" name="Oval 57"/>
          <p:cNvSpPr/>
          <p:nvPr/>
        </p:nvSpPr>
        <p:spPr>
          <a:xfrm>
            <a:off x="10927080" y="2322575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863072" y="2267711"/>
            <a:ext cx="320040" cy="27432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0" y="2569463"/>
            <a:ext cx="5029200" cy="310896"/>
          </a:xfrm>
          <a:prstGeom prst="rect">
            <a:avLst/>
          </a:prstGeom>
          <a:solidFill>
            <a:srgbClr val="10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20840" y="2606039"/>
            <a:ext cx="3108960" cy="237744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CRM Sync (Salesforce, HubSpot)</a:t>
            </a:r>
          </a:p>
        </p:txBody>
      </p:sp>
      <p:sp>
        <p:nvSpPr>
          <p:cNvPr id="62" name="Oval 61"/>
          <p:cNvSpPr/>
          <p:nvPr/>
        </p:nvSpPr>
        <p:spPr>
          <a:xfrm>
            <a:off x="10149840" y="2633471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85832" y="2578607"/>
            <a:ext cx="320040" cy="27432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64" name="Oval 63"/>
          <p:cNvSpPr/>
          <p:nvPr/>
        </p:nvSpPr>
        <p:spPr>
          <a:xfrm>
            <a:off x="10927080" y="2633471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63072" y="2578607"/>
            <a:ext cx="320040" cy="27432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83680" y="2880360"/>
            <a:ext cx="5029200" cy="310896"/>
          </a:xfrm>
          <a:prstGeom prst="rect">
            <a:avLst/>
          </a:prstGeom>
          <a:solidFill>
            <a:srgbClr val="14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20840" y="2916936"/>
            <a:ext cx="3108960" cy="237744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Entity Resolution &amp; Matching</a:t>
            </a:r>
          </a:p>
        </p:txBody>
      </p:sp>
      <p:sp>
        <p:nvSpPr>
          <p:cNvPr id="68" name="Oval 67"/>
          <p:cNvSpPr/>
          <p:nvPr/>
        </p:nvSpPr>
        <p:spPr>
          <a:xfrm>
            <a:off x="10149840" y="2944368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85832" y="2889503"/>
            <a:ext cx="320040" cy="27432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70" name="Oval 69"/>
          <p:cNvSpPr/>
          <p:nvPr/>
        </p:nvSpPr>
        <p:spPr>
          <a:xfrm>
            <a:off x="10927080" y="2944368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863072" y="2889503"/>
            <a:ext cx="320040" cy="27432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83680" y="3191256"/>
            <a:ext cx="5029200" cy="310896"/>
          </a:xfrm>
          <a:prstGeom prst="rect">
            <a:avLst/>
          </a:prstGeom>
          <a:solidFill>
            <a:srgbClr val="10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20840" y="3227832"/>
            <a:ext cx="3108960" cy="237744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AI Agent Tools (MCP Registry)</a:t>
            </a:r>
          </a:p>
        </p:txBody>
      </p:sp>
      <p:sp>
        <p:nvSpPr>
          <p:cNvPr id="74" name="Oval 73"/>
          <p:cNvSpPr/>
          <p:nvPr/>
        </p:nvSpPr>
        <p:spPr>
          <a:xfrm>
            <a:off x="10149840" y="3255263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85832" y="3200399"/>
            <a:ext cx="320040" cy="27432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76" name="Oval 75"/>
          <p:cNvSpPr/>
          <p:nvPr/>
        </p:nvSpPr>
        <p:spPr>
          <a:xfrm>
            <a:off x="10927080" y="3255263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863072" y="3200399"/>
            <a:ext cx="320040" cy="27432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83680" y="3502152"/>
            <a:ext cx="5029200" cy="310896"/>
          </a:xfrm>
          <a:prstGeom prst="rect">
            <a:avLst/>
          </a:prstGeom>
          <a:solidFill>
            <a:srgbClr val="14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20840" y="3538728"/>
            <a:ext cx="3108960" cy="237744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Data Quality (Great Expectations)</a:t>
            </a:r>
          </a:p>
        </p:txBody>
      </p:sp>
      <p:sp>
        <p:nvSpPr>
          <p:cNvPr id="80" name="Oval 79"/>
          <p:cNvSpPr/>
          <p:nvPr/>
        </p:nvSpPr>
        <p:spPr>
          <a:xfrm>
            <a:off x="10149840" y="356616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085832" y="3511296"/>
            <a:ext cx="320040" cy="27432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82" name="Oval 81"/>
          <p:cNvSpPr/>
          <p:nvPr/>
        </p:nvSpPr>
        <p:spPr>
          <a:xfrm>
            <a:off x="10927080" y="3566160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863072" y="3511296"/>
            <a:ext cx="320040" cy="27432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583680" y="3813048"/>
            <a:ext cx="5029200" cy="310896"/>
          </a:xfrm>
          <a:prstGeom prst="rect">
            <a:avLst/>
          </a:prstGeom>
          <a:solidFill>
            <a:srgbClr val="10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720840" y="3849624"/>
            <a:ext cx="3108960" cy="237744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Data Product Marketplace</a:t>
            </a:r>
          </a:p>
        </p:txBody>
      </p:sp>
      <p:sp>
        <p:nvSpPr>
          <p:cNvPr id="86" name="Oval 85"/>
          <p:cNvSpPr/>
          <p:nvPr/>
        </p:nvSpPr>
        <p:spPr>
          <a:xfrm>
            <a:off x="10149840" y="3877056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085832" y="3822191"/>
            <a:ext cx="320040" cy="27432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88" name="Oval 87"/>
          <p:cNvSpPr/>
          <p:nvPr/>
        </p:nvSpPr>
        <p:spPr>
          <a:xfrm>
            <a:off x="10927080" y="3877056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863072" y="3822191"/>
            <a:ext cx="320040" cy="27432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583680" y="4123944"/>
            <a:ext cx="5029200" cy="310896"/>
          </a:xfrm>
          <a:prstGeom prst="rect">
            <a:avLst/>
          </a:prstGeom>
          <a:solidFill>
            <a:srgbClr val="14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720840" y="4160520"/>
            <a:ext cx="3108960" cy="237744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900" b="0" i="0">
                <a:solidFill>
                  <a:srgbClr val="B0BEC5"/>
                </a:solidFill>
                <a:latin typeface="Arial"/>
              </a:defRPr>
            </a:pPr>
            <a:r>
              <a:t>SQL Editor with AI Assist</a:t>
            </a:r>
          </a:p>
        </p:txBody>
      </p:sp>
      <p:sp>
        <p:nvSpPr>
          <p:cNvPr id="92" name="Oval 91"/>
          <p:cNvSpPr/>
          <p:nvPr/>
        </p:nvSpPr>
        <p:spPr>
          <a:xfrm>
            <a:off x="10149840" y="4187952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085832" y="4133087"/>
            <a:ext cx="320040" cy="27432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94" name="Oval 93"/>
          <p:cNvSpPr/>
          <p:nvPr/>
        </p:nvSpPr>
        <p:spPr>
          <a:xfrm>
            <a:off x="10927080" y="4187952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863072" y="4114800"/>
            <a:ext cx="320040" cy="27432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~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583680" y="4434840"/>
            <a:ext cx="5029200" cy="310896"/>
          </a:xfrm>
          <a:prstGeom prst="rect">
            <a:avLst/>
          </a:prstGeom>
          <a:solidFill>
            <a:srgbClr val="10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720840" y="4471416"/>
            <a:ext cx="3108960" cy="237744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900" b="0" i="0">
                <a:solidFill>
                  <a:srgbClr val="B0BEC5"/>
                </a:solidFill>
                <a:latin typeface="Arial"/>
              </a:defRPr>
            </a:pPr>
            <a:r>
              <a:t>Catalog &amp; Governance</a:t>
            </a:r>
          </a:p>
        </p:txBody>
      </p:sp>
      <p:sp>
        <p:nvSpPr>
          <p:cNvPr id="98" name="Oval 97"/>
          <p:cNvSpPr/>
          <p:nvPr/>
        </p:nvSpPr>
        <p:spPr>
          <a:xfrm>
            <a:off x="10149840" y="4498848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085832" y="4443983"/>
            <a:ext cx="320040" cy="27432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00" name="Oval 99"/>
          <p:cNvSpPr/>
          <p:nvPr/>
        </p:nvSpPr>
        <p:spPr>
          <a:xfrm>
            <a:off x="10927080" y="4498848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863072" y="4425696"/>
            <a:ext cx="320040" cy="27432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~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583680" y="4745736"/>
            <a:ext cx="5029200" cy="310896"/>
          </a:xfrm>
          <a:prstGeom prst="rect">
            <a:avLst/>
          </a:prstGeom>
          <a:solidFill>
            <a:srgbClr val="14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720840" y="4782312"/>
            <a:ext cx="3108960" cy="237744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900" b="0" i="0">
                <a:solidFill>
                  <a:srgbClr val="B0BEC5"/>
                </a:solidFill>
                <a:latin typeface="Arial"/>
              </a:defRPr>
            </a:pPr>
            <a:r>
              <a:t>Pipeline Orchestration</a:t>
            </a:r>
          </a:p>
        </p:txBody>
      </p:sp>
      <p:sp>
        <p:nvSpPr>
          <p:cNvPr id="104" name="Oval 103"/>
          <p:cNvSpPr/>
          <p:nvPr/>
        </p:nvSpPr>
        <p:spPr>
          <a:xfrm>
            <a:off x="10149840" y="4809744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085832" y="4754879"/>
            <a:ext cx="320040" cy="27432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06" name="Oval 105"/>
          <p:cNvSpPr/>
          <p:nvPr/>
        </p:nvSpPr>
        <p:spPr>
          <a:xfrm>
            <a:off x="10927080" y="4809744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863072" y="4736592"/>
            <a:ext cx="320040" cy="27432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~</a:t>
            </a:r>
          </a:p>
        </p:txBody>
      </p:sp>
      <p:sp>
        <p:nvSpPr>
          <p:cNvPr id="108" name="Oval 107"/>
          <p:cNvSpPr/>
          <p:nvPr/>
        </p:nvSpPr>
        <p:spPr>
          <a:xfrm>
            <a:off x="6720840" y="5184647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684264" y="5138927"/>
            <a:ext cx="201168" cy="201168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903720" y="5166359"/>
            <a:ext cx="640080" cy="164592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750" b="0" i="0">
                <a:solidFill>
                  <a:srgbClr val="78909C"/>
                </a:solidFill>
                <a:latin typeface="Arial"/>
              </a:defRPr>
            </a:pPr>
            <a:r>
              <a:t>Included</a:t>
            </a:r>
          </a:p>
        </p:txBody>
      </p:sp>
      <p:sp>
        <p:nvSpPr>
          <p:cNvPr id="111" name="Oval 110"/>
          <p:cNvSpPr/>
          <p:nvPr/>
        </p:nvSpPr>
        <p:spPr>
          <a:xfrm>
            <a:off x="7680960" y="5184647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644383" y="5120640"/>
            <a:ext cx="201168" cy="201168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~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863840" y="5166359"/>
            <a:ext cx="914400" cy="164592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750" b="0" i="0">
                <a:solidFill>
                  <a:srgbClr val="78909C"/>
                </a:solidFill>
                <a:latin typeface="Arial"/>
              </a:defRPr>
            </a:pPr>
            <a:r>
              <a:t>Requires setup</a:t>
            </a:r>
          </a:p>
        </p:txBody>
      </p:sp>
      <p:sp>
        <p:nvSpPr>
          <p:cNvPr id="114" name="Oval 113"/>
          <p:cNvSpPr/>
          <p:nvPr/>
        </p:nvSpPr>
        <p:spPr>
          <a:xfrm>
            <a:off x="8915400" y="5184647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878824" y="5138927"/>
            <a:ext cx="201168" cy="201168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098280" y="5166359"/>
            <a:ext cx="1097280" cy="164592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750" b="0" i="0">
                <a:solidFill>
                  <a:srgbClr val="78909C"/>
                </a:solidFill>
                <a:latin typeface="Arial"/>
              </a:defRPr>
            </a:pPr>
            <a:r>
              <a:t>Not available / DIY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0080" y="5166360"/>
            <a:ext cx="10972800" cy="685800"/>
          </a:xfrm>
          <a:prstGeom prst="rect">
            <a:avLst/>
          </a:prstGeom>
          <a:solidFill>
            <a:srgbClr val="1A2F40"/>
          </a:solidFill>
          <a:ln w="6350">
            <a:solidFill>
              <a:srgbClr val="D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0080" y="5239512"/>
            <a:ext cx="1828800" cy="32004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2000" b="1" i="0">
                <a:solidFill>
                  <a:srgbClr val="00D4AA"/>
                </a:solidFill>
                <a:latin typeface="Arial"/>
              </a:defRPr>
            </a:pPr>
            <a:r>
              <a:t>2.9M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40080" y="5550408"/>
            <a:ext cx="1828800" cy="22860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800" b="0" i="0">
                <a:solidFill>
                  <a:srgbClr val="78909C"/>
                </a:solidFill>
                <a:latin typeface="Arial"/>
              </a:defRPr>
            </a:pPr>
            <a:r>
              <a:t>Records Processed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468880" y="5239512"/>
            <a:ext cx="1828800" cy="32004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2000" b="1" i="0">
                <a:solidFill>
                  <a:srgbClr val="00D4AA"/>
                </a:solidFill>
                <a:latin typeface="Arial"/>
              </a:defRPr>
            </a:pPr>
            <a:r>
              <a:t>96%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468880" y="5550408"/>
            <a:ext cx="1828800" cy="22860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800" b="0" i="0">
                <a:solidFill>
                  <a:srgbClr val="78909C"/>
                </a:solidFill>
                <a:latin typeface="Arial"/>
              </a:defRPr>
            </a:pPr>
            <a:r>
              <a:t>Avg Quality Score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297680" y="5239512"/>
            <a:ext cx="1828800" cy="32004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2000" b="1" i="0">
                <a:solidFill>
                  <a:srgbClr val="00D4A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297680" y="5550408"/>
            <a:ext cx="1828800" cy="22860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800" b="0" i="0">
                <a:solidFill>
                  <a:srgbClr val="78909C"/>
                </a:solidFill>
                <a:latin typeface="Arial"/>
              </a:defRPr>
            </a:pPr>
            <a:r>
              <a:t>Sources Unified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126480" y="5239512"/>
            <a:ext cx="1828800" cy="32004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2000" b="1" i="0">
                <a:solidFill>
                  <a:srgbClr val="00D4AA"/>
                </a:solidFill>
                <a:latin typeface="Arial"/>
              </a:defRPr>
            </a:pPr>
            <a:r>
              <a:t>51%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126480" y="5550408"/>
            <a:ext cx="1828800" cy="22860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800" b="0" i="0">
                <a:solidFill>
                  <a:srgbClr val="78909C"/>
                </a:solidFill>
                <a:latin typeface="Arial"/>
              </a:defRPr>
            </a:pPr>
            <a:r>
              <a:t>Data Compression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955279" y="5239512"/>
            <a:ext cx="1828800" cy="32004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2000" b="1" i="0">
                <a:solidFill>
                  <a:srgbClr val="00D4AA"/>
                </a:solidFill>
                <a:latin typeface="Arial"/>
              </a:defRPr>
            </a:pPr>
            <a:r>
              <a:t>27.6K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79" y="5550408"/>
            <a:ext cx="1828800" cy="22860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800" b="0" i="0">
                <a:solidFill>
                  <a:srgbClr val="78909C"/>
                </a:solidFill>
                <a:latin typeface="Arial"/>
              </a:defRPr>
            </a:pPr>
            <a:r>
              <a:t>AI Tool Invocations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784080" y="5239512"/>
            <a:ext cx="1828800" cy="32004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2000" b="1" i="0">
                <a:solidFill>
                  <a:srgbClr val="00D4AA"/>
                </a:solidFill>
                <a:latin typeface="Arial"/>
              </a:defRPr>
            </a:pPr>
            <a:r>
              <a:t>94.6%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784080" y="5550408"/>
            <a:ext cx="1828800" cy="22860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ctr">
              <a:defRPr sz="800" b="0" i="0">
                <a:solidFill>
                  <a:srgbClr val="78909C"/>
                </a:solidFill>
                <a:latin typeface="Arial"/>
              </a:defRPr>
            </a:pPr>
            <a:r>
              <a:t>Pipeline Success Rate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b="1" sz="1100">
                <a:solidFill>
                  <a:srgbClr val="D4A853"/>
                </a:solidFill>
                <a:latin typeface="Arial"/>
              </a:rPr>
              <a:t>BOTTOM LINE:  </a:t>
            </a:r>
            <a:r>
              <a:rPr sz="1100">
                <a:solidFill>
                  <a:srgbClr val="FFFFFF"/>
                </a:solidFill>
                <a:latin typeface="Arial"/>
              </a:rPr>
              <a:t>Databricks sells you a compute engine and a bill for the team to build everything else. FDP ships the complete intelligence layer — from raw CRM data to enterprise gold tables to AI-ready tools — out of the box.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0080" y="6492240"/>
            <a:ext cx="1828800" cy="22860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700" b="0" i="0">
                <a:solidFill>
                  <a:srgbClr val="78909C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686800" y="6492240"/>
            <a:ext cx="3200400" cy="22860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r">
              <a:defRPr sz="700" b="0" i="0">
                <a:solidFill>
                  <a:srgbClr val="78909C"/>
                </a:solidFill>
                <a:latin typeface="Arial"/>
              </a:defRPr>
            </a:pPr>
            <a:r>
              <a:t>FDP  |  Data Lakehouse Platform  |  futuridata.com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